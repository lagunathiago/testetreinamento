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7"/>
  </p:notesMasterIdLst>
  <p:sldIdLst>
    <p:sldId id="256" r:id="rId2"/>
    <p:sldId id="257" r:id="rId3"/>
    <p:sldId id="258" r:id="rId4"/>
    <p:sldId id="264" r:id="rId5"/>
    <p:sldId id="291" r:id="rId6"/>
  </p:sldIdLst>
  <p:sldSz cx="9144000" cy="5143500" type="screen16x9"/>
  <p:notesSz cx="6858000" cy="9144000"/>
  <p:embeddedFontLst>
    <p:embeddedFont>
      <p:font typeface="Anaheim" panose="020B0604020202020204" charset="0"/>
      <p:regular r:id="rId8"/>
    </p:embeddedFont>
    <p:embeddedFont>
      <p:font typeface="Bebas Neue" panose="020B0606020202050201" pitchFamily="34" charset="0"/>
      <p:regular r:id="rId9"/>
    </p:embeddedFont>
    <p:embeddedFont>
      <p:font typeface="Comfortaa" panose="020B0604020202020204" charset="0"/>
      <p:regular r:id="rId10"/>
      <p:bold r:id="rId11"/>
    </p:embeddedFont>
    <p:embeddedFont>
      <p:font typeface="Fira Code" panose="020B0809050000020004" pitchFamily="49" charset="0"/>
      <p:regular r:id="rId12"/>
      <p:bold r:id="rId13"/>
    </p:embeddedFont>
    <p:embeddedFont>
      <p:font typeface="Nunito Light" pitchFamily="2" charset="0"/>
      <p:regular r:id="rId14"/>
      <p:italic r:id="rId15"/>
    </p:embeddedFont>
    <p:embeddedFont>
      <p:font typeface="Source Code Pro" panose="020B0509030403020204" pitchFamily="49" charset="0"/>
      <p:regular r:id="rId16"/>
      <p:bold r:id="rId17"/>
      <p:italic r:id="rId18"/>
      <p:boldItalic r:id="rId19"/>
    </p:embeddedFont>
    <p:embeddedFont>
      <p:font typeface="Source Code Pro Medium" panose="020B0509030403020204" pitchFamily="49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80" userDrawn="1">
          <p15:clr>
            <a:srgbClr val="A4A3A4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EA6956-D4B2-4362-B2D4-A53AC2EB0ABD}">
  <a:tblStyle styleId="{21EA6956-D4B2-4362-B2D4-A53AC2EB0AB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8DDA026-3A93-429F-A4DD-CDC78627927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846" y="78"/>
      </p:cViewPr>
      <p:guideLst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font" Target="fonts/font16.fntdata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gd44c0c1fca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4" name="Google Shape;1454;gd44c0c1fca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735500" y="1258850"/>
            <a:ext cx="5797500" cy="20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735500" y="3297650"/>
            <a:ext cx="5797500" cy="440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" name="Google Shape;22;p4"/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28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" name="Google Shape;41;p6"/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" name="Google Shape;83;p13"/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2472000" y="1832950"/>
            <a:ext cx="420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3175501" y="2833427"/>
            <a:ext cx="420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3504027" y="3834248"/>
            <a:ext cx="420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1869900" y="1470525"/>
            <a:ext cx="602100" cy="391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2573400" y="2482425"/>
            <a:ext cx="602100" cy="391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2891275" y="3494325"/>
            <a:ext cx="602100" cy="328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2472000" y="1470525"/>
            <a:ext cx="42096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3175500" y="2482425"/>
            <a:ext cx="42096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3504025" y="3494325"/>
            <a:ext cx="42096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997700" y="2096375"/>
            <a:ext cx="2373000" cy="13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3522987" y="2756375"/>
            <a:ext cx="2373000" cy="13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6051233" y="3242600"/>
            <a:ext cx="2373000" cy="13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720000" y="1436375"/>
            <a:ext cx="24168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3292047" y="2096375"/>
            <a:ext cx="24168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5867044" y="2582600"/>
            <a:ext cx="24168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4424750" y="-1800"/>
            <a:ext cx="47193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8193116" y="446250"/>
            <a:ext cx="414956" cy="186500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8" r:id="rId4"/>
    <p:sldLayoutId id="2147483659" r:id="rId5"/>
    <p:sldLayoutId id="2147483666" r:id="rId6"/>
    <p:sldLayoutId id="2147483672" r:id="rId7"/>
    <p:sldLayoutId id="2147483673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free-vector/programmers-concept-with-flat-design_2456089.htm/?utm_source=slidesgo_template&amp;utm_medium=referral-link&amp;utm_campaign=sg_resources&amp;utm_content=freepik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xfrm>
            <a:off x="2695456" y="1017988"/>
            <a:ext cx="5797500" cy="20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&lt;h1&gt;</a:t>
            </a:r>
            <a:b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QA(Garantia de Qualidade)</a:t>
            </a:r>
            <a:b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pt-BR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&lt;/h1&gt;</a:t>
            </a:r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2733412" y="3962014"/>
            <a:ext cx="5854588" cy="9233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Socialização – Experiência Profissional  Carreira e sucesso.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Nome do Tutor(a): João Victor Rocha Araújo.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Nome dos Acadêmicos(as): Juliano Werner e Mônica Lamim</a:t>
            </a:r>
            <a:r>
              <a:rPr lang="en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endParaRPr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240" name="Google Shape;240;p31"/>
          <p:cNvSpPr txBox="1"/>
          <p:nvPr/>
        </p:nvSpPr>
        <p:spPr>
          <a:xfrm>
            <a:off x="2097300" y="571000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8588000" y="40019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2362993" y="3532069"/>
            <a:ext cx="14475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sz="5000" dirty="0">
              <a:solidFill>
                <a:schemeClr val="accent2"/>
              </a:solidFill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8059900" y="446250"/>
            <a:ext cx="473100" cy="186500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255130" y="696438"/>
            <a:ext cx="2377907" cy="3907563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Teste de Unidade</a:t>
            </a:r>
            <a:endParaRPr sz="4000" dirty="0">
              <a:solidFill>
                <a:schemeClr val="accent1">
                  <a:lumMod val="60000"/>
                  <a:lumOff val="40000"/>
                </a:schemeClr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28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Source Code Pro" panose="020B0509030403020204" pitchFamily="49" charset="0"/>
                <a:ea typeface="Source Code Pro" panose="020B0509030403020204" pitchFamily="49" charset="0"/>
              </a:rPr>
              <a:t>Responsabilidades:</a:t>
            </a:r>
            <a:endParaRPr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2087108008"/>
              </p:ext>
            </p:extLst>
          </p:nvPr>
        </p:nvGraphicFramePr>
        <p:xfrm>
          <a:off x="580151" y="2388196"/>
          <a:ext cx="7704000" cy="2824487"/>
        </p:xfrm>
        <a:graphic>
          <a:graphicData uri="http://schemas.openxmlformats.org/drawingml/2006/table">
            <a:tbl>
              <a:tblPr>
                <a:noFill/>
                <a:tableStyleId>{21EA6956-D4B2-4362-B2D4-A53AC2EB0ABD}</a:tableStyleId>
              </a:tblPr>
              <a:tblGrid>
                <a:gridCol w="249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9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882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pt-BR" sz="1000" b="0" i="0" u="none" strike="noStrike" cap="none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Arial"/>
                          <a:sym typeface="Arial"/>
                        </a:rPr>
                        <a:t>O Teste de Unidade é focado em verificar a corretude de unidades individuais de código, como funções e métodos.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sz="1000" dirty="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  <a:cs typeface="Source Code Pro"/>
                        <a:sym typeface="Source Code Pr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82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pt-BR" sz="1000" b="0" i="0" u="none" strike="noStrike" cap="none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Arial"/>
                          <a:sym typeface="Arial"/>
                        </a:rPr>
                        <a:t>É realizado por desenvolvedores e envolve a execução de casos de teste automatizados.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sz="1000" dirty="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  <a:cs typeface="Source Code Pro"/>
                        <a:sym typeface="Source Code Pr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82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pt-BR" sz="1000" b="0" i="0" u="none" strike="noStrike" cap="none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Arial"/>
                          <a:sym typeface="Arial"/>
                        </a:rPr>
                        <a:t>O objetivo é identificar erros de lógica, verificar se a unidade de código produz os resultados esperados e garantir que funcione corretamente quando integrada ao restante do sistema.</a:t>
                      </a:r>
                      <a:endParaRPr sz="1000" dirty="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  <a:cs typeface="Source Code Pro"/>
                        <a:sym typeface="Source Code Pr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82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  <a:cs typeface="Source Code Pro"/>
                        <a:sym typeface="Source Code Pr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82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  <a:cs typeface="Source Code Pro"/>
                        <a:sym typeface="Source Code Pr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82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l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sz="1000" b="1" dirty="0">
                        <a:solidFill>
                          <a:schemeClr val="dk1"/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  <a:cs typeface="Source Code Pro"/>
                        <a:sym typeface="Source Code Pr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latin typeface="Source Code Pro" panose="020B0509030403020204" pitchFamily="49" charset="0"/>
                <a:ea typeface="Source Code Pro" panose="020B0509030403020204" pitchFamily="49" charset="0"/>
              </a:rPr>
              <a:t>Teste</a:t>
            </a:r>
            <a:r>
              <a:rPr lang="pt-BR" dirty="0">
                <a:solidFill>
                  <a:schemeClr val="accent4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de Integração</a:t>
            </a:r>
          </a:p>
        </p:txBody>
      </p:sp>
      <p:sp>
        <p:nvSpPr>
          <p:cNvPr id="307" name="Google Shape;307;p33"/>
          <p:cNvSpPr txBox="1">
            <a:spLocks noGrp="1"/>
          </p:cNvSpPr>
          <p:nvPr>
            <p:ph type="subTitle" idx="1"/>
          </p:nvPr>
        </p:nvSpPr>
        <p:spPr>
          <a:xfrm>
            <a:off x="2471999" y="1832950"/>
            <a:ext cx="491310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0" i="0" dirty="0">
                <a:solidFill>
                  <a:schemeClr val="bg1">
                    <a:lumMod val="10000"/>
                    <a:lumOff val="90000"/>
                  </a:schemeClr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O Teste de Integração é realizado para verificar se diferentes componentes do software funcionam corretamente juntos.</a:t>
            </a:r>
            <a:endParaRPr dirty="0">
              <a:solidFill>
                <a:schemeClr val="bg1">
                  <a:lumMod val="10000"/>
                  <a:lumOff val="90000"/>
                </a:schemeClr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308" name="Google Shape;308;p33"/>
          <p:cNvSpPr txBox="1">
            <a:spLocks noGrp="1"/>
          </p:cNvSpPr>
          <p:nvPr>
            <p:ph type="subTitle" idx="2"/>
          </p:nvPr>
        </p:nvSpPr>
        <p:spPr>
          <a:xfrm>
            <a:off x="3175500" y="3614450"/>
            <a:ext cx="491310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0" i="0" dirty="0">
                <a:solidFill>
                  <a:schemeClr val="bg1">
                    <a:lumMod val="10000"/>
                    <a:lumOff val="90000"/>
                  </a:schemeClr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Garante que a comunicação e a interação entre os módulos estejam corretas.</a:t>
            </a:r>
            <a:endParaRPr dirty="0">
              <a:solidFill>
                <a:schemeClr val="bg1">
                  <a:lumMod val="10000"/>
                  <a:lumOff val="90000"/>
                </a:schemeClr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310" name="Google Shape;310;p33"/>
          <p:cNvSpPr txBox="1">
            <a:spLocks noGrp="1"/>
          </p:cNvSpPr>
          <p:nvPr>
            <p:ph type="title" idx="4"/>
          </p:nvPr>
        </p:nvSpPr>
        <p:spPr>
          <a:xfrm>
            <a:off x="1869900" y="1470525"/>
            <a:ext cx="602100" cy="39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11" name="Google Shape;311;p33"/>
          <p:cNvSpPr txBox="1">
            <a:spLocks noGrp="1"/>
          </p:cNvSpPr>
          <p:nvPr>
            <p:ph type="title" idx="5"/>
          </p:nvPr>
        </p:nvSpPr>
        <p:spPr>
          <a:xfrm>
            <a:off x="2531405" y="3191326"/>
            <a:ext cx="602100" cy="39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313" name="Google Shape;313;p33"/>
          <p:cNvSpPr txBox="1">
            <a:spLocks noGrp="1"/>
          </p:cNvSpPr>
          <p:nvPr>
            <p:ph type="subTitle" idx="7"/>
          </p:nvPr>
        </p:nvSpPr>
        <p:spPr>
          <a:xfrm>
            <a:off x="2471999" y="1470525"/>
            <a:ext cx="5069111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latin typeface="Source Code Pro" panose="020B0509030403020204" pitchFamily="49" charset="0"/>
                <a:ea typeface="Source Code Pro" panose="020B0509030403020204" pitchFamily="49" charset="0"/>
              </a:rPr>
              <a:t>Funções</a:t>
            </a:r>
            <a:endParaRPr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314" name="Google Shape;314;p33"/>
          <p:cNvSpPr txBox="1">
            <a:spLocks noGrp="1"/>
          </p:cNvSpPr>
          <p:nvPr>
            <p:ph type="subTitle" idx="8"/>
          </p:nvPr>
        </p:nvSpPr>
        <p:spPr>
          <a:xfrm>
            <a:off x="3149963" y="3194730"/>
            <a:ext cx="42096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latin typeface="Source Code Pro" panose="020B0509030403020204" pitchFamily="49" charset="0"/>
                <a:ea typeface="Source Code Pro" panose="020B0509030403020204" pitchFamily="49" charset="0"/>
              </a:rPr>
              <a:t>Objetivo</a:t>
            </a:r>
            <a:endParaRPr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grpSp>
        <p:nvGrpSpPr>
          <p:cNvPr id="316" name="Google Shape;316;p33"/>
          <p:cNvGrpSpPr/>
          <p:nvPr/>
        </p:nvGrpSpPr>
        <p:grpSpPr>
          <a:xfrm>
            <a:off x="358925" y="1867675"/>
            <a:ext cx="2142175" cy="2736325"/>
            <a:chOff x="358925" y="1867675"/>
            <a:chExt cx="2142175" cy="2736325"/>
          </a:xfrm>
        </p:grpSpPr>
        <p:sp>
          <p:nvSpPr>
            <p:cNvPr id="317" name="Google Shape;317;p33"/>
            <p:cNvSpPr/>
            <p:nvPr/>
          </p:nvSpPr>
          <p:spPr>
            <a:xfrm>
              <a:off x="358925" y="1876250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3"/>
            <p:cNvSpPr/>
            <p:nvPr/>
          </p:nvSpPr>
          <p:spPr>
            <a:xfrm>
              <a:off x="757650" y="18676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3"/>
            <p:cNvSpPr/>
            <p:nvPr/>
          </p:nvSpPr>
          <p:spPr>
            <a:xfrm>
              <a:off x="358925" y="21884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3"/>
            <p:cNvSpPr/>
            <p:nvPr/>
          </p:nvSpPr>
          <p:spPr>
            <a:xfrm>
              <a:off x="358925" y="2515188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3"/>
            <p:cNvSpPr/>
            <p:nvPr/>
          </p:nvSpPr>
          <p:spPr>
            <a:xfrm>
              <a:off x="358925" y="284192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3"/>
            <p:cNvSpPr/>
            <p:nvPr/>
          </p:nvSpPr>
          <p:spPr>
            <a:xfrm>
              <a:off x="709062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3"/>
            <p:cNvSpPr/>
            <p:nvPr/>
          </p:nvSpPr>
          <p:spPr>
            <a:xfrm>
              <a:off x="1059518" y="2841925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3"/>
            <p:cNvSpPr/>
            <p:nvPr/>
          </p:nvSpPr>
          <p:spPr>
            <a:xfrm>
              <a:off x="358925" y="31525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3"/>
            <p:cNvSpPr/>
            <p:nvPr/>
          </p:nvSpPr>
          <p:spPr>
            <a:xfrm>
              <a:off x="358925" y="349535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3"/>
            <p:cNvSpPr/>
            <p:nvPr/>
          </p:nvSpPr>
          <p:spPr>
            <a:xfrm>
              <a:off x="358925" y="3804275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3"/>
            <p:cNvSpPr/>
            <p:nvPr/>
          </p:nvSpPr>
          <p:spPr>
            <a:xfrm>
              <a:off x="358925" y="41132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3"/>
            <p:cNvSpPr/>
            <p:nvPr/>
          </p:nvSpPr>
          <p:spPr>
            <a:xfrm>
              <a:off x="709062" y="315250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3"/>
            <p:cNvSpPr/>
            <p:nvPr/>
          </p:nvSpPr>
          <p:spPr>
            <a:xfrm>
              <a:off x="683525" y="34953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3"/>
            <p:cNvSpPr/>
            <p:nvPr/>
          </p:nvSpPr>
          <p:spPr>
            <a:xfrm>
              <a:off x="709062" y="3804275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3"/>
            <p:cNvSpPr/>
            <p:nvPr/>
          </p:nvSpPr>
          <p:spPr>
            <a:xfrm>
              <a:off x="709062" y="4130163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3"/>
            <p:cNvSpPr/>
            <p:nvPr/>
          </p:nvSpPr>
          <p:spPr>
            <a:xfrm>
              <a:off x="709062" y="44560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3"/>
            <p:cNvSpPr/>
            <p:nvPr/>
          </p:nvSpPr>
          <p:spPr>
            <a:xfrm>
              <a:off x="973809" y="3152500"/>
              <a:ext cx="4155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3"/>
            <p:cNvSpPr/>
            <p:nvPr/>
          </p:nvSpPr>
          <p:spPr>
            <a:xfrm>
              <a:off x="973809" y="34953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3"/>
            <p:cNvSpPr/>
            <p:nvPr/>
          </p:nvSpPr>
          <p:spPr>
            <a:xfrm>
              <a:off x="994246" y="38042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3"/>
            <p:cNvSpPr/>
            <p:nvPr/>
          </p:nvSpPr>
          <p:spPr>
            <a:xfrm>
              <a:off x="994246" y="41487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3"/>
            <p:cNvSpPr/>
            <p:nvPr/>
          </p:nvSpPr>
          <p:spPr>
            <a:xfrm>
              <a:off x="994246" y="4456050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3"/>
            <p:cNvSpPr/>
            <p:nvPr/>
          </p:nvSpPr>
          <p:spPr>
            <a:xfrm>
              <a:off x="1439171" y="3152500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3"/>
            <p:cNvSpPr/>
            <p:nvPr/>
          </p:nvSpPr>
          <p:spPr>
            <a:xfrm>
              <a:off x="1629567" y="3478388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3"/>
            <p:cNvSpPr/>
            <p:nvPr/>
          </p:nvSpPr>
          <p:spPr>
            <a:xfrm>
              <a:off x="1740173" y="38043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3"/>
            <p:cNvSpPr/>
            <p:nvPr/>
          </p:nvSpPr>
          <p:spPr>
            <a:xfrm>
              <a:off x="1740173" y="44561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3"/>
            <p:cNvSpPr/>
            <p:nvPr/>
          </p:nvSpPr>
          <p:spPr>
            <a:xfrm>
              <a:off x="757650" y="2182588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3"/>
            <p:cNvSpPr/>
            <p:nvPr/>
          </p:nvSpPr>
          <p:spPr>
            <a:xfrm>
              <a:off x="757650" y="25122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3"/>
            <p:cNvSpPr/>
            <p:nvPr/>
          </p:nvSpPr>
          <p:spPr>
            <a:xfrm>
              <a:off x="1445575" y="2509300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3"/>
            <p:cNvSpPr/>
            <p:nvPr/>
          </p:nvSpPr>
          <p:spPr>
            <a:xfrm>
              <a:off x="1344900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3"/>
            <p:cNvSpPr/>
            <p:nvPr/>
          </p:nvSpPr>
          <p:spPr>
            <a:xfrm>
              <a:off x="1740250" y="4148775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3"/>
            <p:cNvSpPr/>
            <p:nvPr/>
          </p:nvSpPr>
          <p:spPr>
            <a:xfrm>
              <a:off x="2043300" y="4456050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Teste</a:t>
            </a:r>
            <a:r>
              <a:rPr lang="en" sz="2400" dirty="0">
                <a:solidFill>
                  <a:schemeClr val="accent4"/>
                </a:solidFill>
              </a:rPr>
              <a:t> de Aceitação </a:t>
            </a:r>
            <a:endParaRPr sz="2400" dirty="0">
              <a:solidFill>
                <a:schemeClr val="accent4"/>
              </a:solidFill>
            </a:endParaRPr>
          </a:p>
        </p:txBody>
      </p:sp>
      <p:sp>
        <p:nvSpPr>
          <p:cNvPr id="524" name="Google Shape;524;p39"/>
          <p:cNvSpPr txBox="1">
            <a:spLocks noGrp="1"/>
          </p:cNvSpPr>
          <p:nvPr>
            <p:ph type="subTitle" idx="1"/>
          </p:nvPr>
        </p:nvSpPr>
        <p:spPr>
          <a:xfrm>
            <a:off x="860156" y="1801650"/>
            <a:ext cx="2373000" cy="13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0" i="0" dirty="0">
                <a:solidFill>
                  <a:schemeClr val="bg1">
                    <a:lumMod val="10000"/>
                    <a:lumOff val="90000"/>
                  </a:schemeClr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O Teste de Aceitação é realizado para validar se o software atende aos requisitos do cliente e às expectativas do usuário final.</a:t>
            </a:r>
            <a:endParaRPr dirty="0">
              <a:solidFill>
                <a:schemeClr val="bg1">
                  <a:lumMod val="10000"/>
                  <a:lumOff val="90000"/>
                </a:schemeClr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525" name="Google Shape;525;p39"/>
          <p:cNvSpPr txBox="1">
            <a:spLocks noGrp="1"/>
          </p:cNvSpPr>
          <p:nvPr>
            <p:ph type="subTitle" idx="2"/>
          </p:nvPr>
        </p:nvSpPr>
        <p:spPr>
          <a:xfrm>
            <a:off x="3537846" y="2465383"/>
            <a:ext cx="2373000" cy="13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0" i="0" dirty="0">
                <a:solidFill>
                  <a:schemeClr val="bg1">
                    <a:lumMod val="10000"/>
                    <a:lumOff val="90000"/>
                  </a:schemeClr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Geralmente, é realizado por profissionais de QA em colaboração com stakeholders e usuários finais.</a:t>
            </a:r>
            <a:endParaRPr dirty="0">
              <a:solidFill>
                <a:schemeClr val="bg1">
                  <a:lumMod val="10000"/>
                  <a:lumOff val="90000"/>
                </a:schemeClr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526" name="Google Shape;526;p39"/>
          <p:cNvSpPr txBox="1">
            <a:spLocks noGrp="1"/>
          </p:cNvSpPr>
          <p:nvPr>
            <p:ph type="subTitle" idx="3"/>
          </p:nvPr>
        </p:nvSpPr>
        <p:spPr>
          <a:xfrm>
            <a:off x="5998913" y="2874438"/>
            <a:ext cx="2373000" cy="13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0" i="0" dirty="0">
                <a:solidFill>
                  <a:schemeClr val="bg1">
                    <a:lumMod val="10000"/>
                    <a:lumOff val="90000"/>
                  </a:schemeClr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O objetivo é garantir que o software esteja em conformidade com os critérios de aceitação e que seja satisfatório para os usuários finais.</a:t>
            </a:r>
            <a:endParaRPr dirty="0">
              <a:solidFill>
                <a:schemeClr val="bg1">
                  <a:lumMod val="10000"/>
                  <a:lumOff val="90000"/>
                </a:schemeClr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527" name="Google Shape;527;p39"/>
          <p:cNvSpPr txBox="1">
            <a:spLocks noGrp="1"/>
          </p:cNvSpPr>
          <p:nvPr>
            <p:ph type="subTitle" idx="4"/>
          </p:nvPr>
        </p:nvSpPr>
        <p:spPr>
          <a:xfrm>
            <a:off x="692623" y="1193263"/>
            <a:ext cx="24168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/>
              <a:t>Função</a:t>
            </a:r>
            <a:endParaRPr sz="1800" dirty="0"/>
          </a:p>
        </p:txBody>
      </p:sp>
      <p:sp>
        <p:nvSpPr>
          <p:cNvPr id="528" name="Google Shape;528;p39"/>
          <p:cNvSpPr txBox="1">
            <a:spLocks noGrp="1"/>
          </p:cNvSpPr>
          <p:nvPr>
            <p:ph type="subTitle" idx="5"/>
          </p:nvPr>
        </p:nvSpPr>
        <p:spPr>
          <a:xfrm>
            <a:off x="3276956" y="1847729"/>
            <a:ext cx="24168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/>
              <a:t>Aceitação</a:t>
            </a:r>
            <a:endParaRPr sz="1600" dirty="0"/>
          </a:p>
        </p:txBody>
      </p:sp>
      <p:sp>
        <p:nvSpPr>
          <p:cNvPr id="529" name="Google Shape;529;p39"/>
          <p:cNvSpPr txBox="1">
            <a:spLocks noGrp="1"/>
          </p:cNvSpPr>
          <p:nvPr>
            <p:ph type="subTitle" idx="6"/>
          </p:nvPr>
        </p:nvSpPr>
        <p:spPr>
          <a:xfrm>
            <a:off x="5867044" y="2214438"/>
            <a:ext cx="24168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/>
              <a:t>Objetivo</a:t>
            </a:r>
            <a:endParaRPr sz="1600" dirty="0"/>
          </a:p>
        </p:txBody>
      </p:sp>
      <p:grpSp>
        <p:nvGrpSpPr>
          <p:cNvPr id="530" name="Google Shape;530;p39"/>
          <p:cNvGrpSpPr/>
          <p:nvPr/>
        </p:nvGrpSpPr>
        <p:grpSpPr>
          <a:xfrm>
            <a:off x="350039" y="3944000"/>
            <a:ext cx="2536147" cy="887325"/>
            <a:chOff x="880714" y="3731738"/>
            <a:chExt cx="2536147" cy="887325"/>
          </a:xfrm>
        </p:grpSpPr>
        <p:sp>
          <p:nvSpPr>
            <p:cNvPr id="531" name="Google Shape;531;p39"/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9"/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9"/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9"/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9"/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9"/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9"/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9"/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9"/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9"/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9"/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9"/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9"/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4" name="Google Shape;544;p39"/>
          <p:cNvSpPr txBox="1"/>
          <p:nvPr/>
        </p:nvSpPr>
        <p:spPr>
          <a:xfrm>
            <a:off x="6983275" y="1301465"/>
            <a:ext cx="14475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sz="50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66"/>
          <p:cNvSpPr txBox="1">
            <a:spLocks noGrp="1"/>
          </p:cNvSpPr>
          <p:nvPr>
            <p:ph type="title" idx="4294967295"/>
          </p:nvPr>
        </p:nvSpPr>
        <p:spPr>
          <a:xfrm>
            <a:off x="0" y="444500"/>
            <a:ext cx="7702550" cy="573088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/>
              <a:t>Alternative resources</a:t>
            </a:r>
          </a:p>
        </p:txBody>
      </p:sp>
      <p:sp>
        <p:nvSpPr>
          <p:cNvPr id="1456" name="Google Shape;1456;p66"/>
          <p:cNvSpPr txBox="1">
            <a:spLocks noGrp="1"/>
          </p:cNvSpPr>
          <p:nvPr>
            <p:ph type="body" idx="4294967295"/>
          </p:nvPr>
        </p:nvSpPr>
        <p:spPr>
          <a:xfrm>
            <a:off x="0" y="1316038"/>
            <a:ext cx="7702550" cy="10620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Here’s an assortment of alternative resources whose style fits the one of this template:</a:t>
            </a:r>
            <a:endParaRPr dirty="0"/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uFill>
                  <a:noFill/>
                </a:uFill>
                <a:hlinkClick r:id="rId3"/>
              </a:rPr>
              <a:t>Programmers concept with flat design</a:t>
            </a:r>
            <a:endParaRPr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FB8710F-F160-D1B2-68E7-D171139332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ntroduction to Java Programming for High School by Slidesgo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247</Words>
  <Application>Microsoft Office PowerPoint</Application>
  <PresentationFormat>Apresentação na tela (16:9)</PresentationFormat>
  <Paragraphs>31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4" baseType="lpstr">
      <vt:lpstr>Arial</vt:lpstr>
      <vt:lpstr>Fira Code</vt:lpstr>
      <vt:lpstr>Nunito Light</vt:lpstr>
      <vt:lpstr>Bebas Neue</vt:lpstr>
      <vt:lpstr>Source Code Pro Medium</vt:lpstr>
      <vt:lpstr>Anaheim</vt:lpstr>
      <vt:lpstr>Comfortaa</vt:lpstr>
      <vt:lpstr>Source Code Pro</vt:lpstr>
      <vt:lpstr>Introduction to Java Programming for High School by Slidesgo</vt:lpstr>
      <vt:lpstr>&lt;h1&gt;  QA(Garantia de Qualidade) &lt;/h1&gt;</vt:lpstr>
      <vt:lpstr>Teste de Unidade</vt:lpstr>
      <vt:lpstr>Teste de Integração</vt:lpstr>
      <vt:lpstr>Teste de Aceitação </vt:lpstr>
      <vt:lpstr>Alternative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&lt;h1&gt;  Desenvolvimento          &amp;  QA(Garantia de Qualidade) &lt;/h1&gt;</dc:title>
  <dc:creator>Lector</dc:creator>
  <cp:lastModifiedBy>Lector</cp:lastModifiedBy>
  <cp:revision>3</cp:revision>
  <dcterms:modified xsi:type="dcterms:W3CDTF">2023-07-14T21:10:05Z</dcterms:modified>
</cp:coreProperties>
</file>